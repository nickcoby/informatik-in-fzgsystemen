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1" r:id="rId3"/>
    <p:sldId id="262" r:id="rId4"/>
    <p:sldId id="263" r:id="rId5"/>
    <p:sldId id="264" r:id="rId6"/>
    <p:sldId id="271" r:id="rId7"/>
    <p:sldId id="265" r:id="rId8"/>
    <p:sldId id="267" r:id="rId9"/>
    <p:sldId id="268" r:id="rId10"/>
    <p:sldId id="269" r:id="rId11"/>
    <p:sldId id="272" r:id="rId12"/>
    <p:sldId id="266" r:id="rId13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53FC6C-2A3C-C65B-2375-D64039706F38}" name="Nick Alexander Jacoby (njacoby)" initials="NJ" userId="S::njacoby@th-koeln.de::e79eb8e5-53d0-4108-870f-3e5e97dbb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581D8-A2ED-FD47-841C-CF920F7F18D1}" v="152" dt="2026-01-08T21:43:26.599"/>
    <p1510:client id="{DFE76795-5F83-462E-8ED2-244AD7052031}" v="205" dt="2026-01-08T21:20:54.544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94625"/>
  </p:normalViewPr>
  <p:slideViewPr>
    <p:cSldViewPr snapToGrid="0">
      <p:cViewPr varScale="1">
        <p:scale>
          <a:sx n="132" d="100"/>
          <a:sy n="132" d="100"/>
        </p:scale>
        <p:origin x="15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08.01.26</a:t>
            </a:fld>
            <a:endParaRPr lang="de-DE" sz="90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>
                <a:solidFill>
                  <a:schemeClr val="tx1"/>
                </a:solidFill>
              </a:rPr>
            </a:br>
            <a:r>
              <a:rPr lang="de-DE" sz="900" b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err="1">
                <a:solidFill>
                  <a:schemeClr val="tx1"/>
                </a:solidFill>
              </a:rPr>
              <a:t>Foliemaster</a:t>
            </a:r>
            <a:r>
              <a:rPr lang="de-DE" sz="900" b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08.01.26</a:t>
            </a:fld>
            <a:endParaRPr lang="de-DE" sz="90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>
                <a:solidFill>
                  <a:schemeClr val="tx1"/>
                </a:solidFill>
              </a:rPr>
            </a:br>
            <a:r>
              <a:rPr lang="de-DE" sz="900" b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err="1">
                <a:solidFill>
                  <a:schemeClr val="tx1"/>
                </a:solidFill>
              </a:rPr>
              <a:t>Foliemaster</a:t>
            </a:r>
            <a:r>
              <a:rPr lang="de-DE" sz="900" b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92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</a:t>
            </a:r>
            <a:br>
              <a:rPr lang="de-DE"/>
            </a:br>
            <a:r>
              <a:rPr lang="de-DE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ußzeilenplatzhalter 3"/>
          <p:cNvSpPr txBox="1">
            <a:spLocks/>
          </p:cNvSpPr>
          <p:nvPr/>
        </p:nvSpPr>
        <p:spPr>
          <a:xfrm>
            <a:off x="2590800" y="6011863"/>
            <a:ext cx="5254625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/>
              <a:t>Moritz Humberg, Nick Jacoby, Jonas Schupp</a:t>
            </a:r>
            <a:endParaRPr lang="de-DE" sz="900" b="0">
              <a:solidFill>
                <a:srgbClr val="141313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>
                <a:solidFill>
                  <a:srgbClr val="141313"/>
                </a:solidFill>
              </a:rPr>
              <a:t>Informatik in Fahrzeugsystemen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>
                <a:solidFill>
                  <a:srgbClr val="141313"/>
                </a:solidFill>
              </a:rPr>
              <a:t>Car </a:t>
            </a:r>
            <a:r>
              <a:rPr lang="de-DE" sz="900" b="0" err="1">
                <a:solidFill>
                  <a:srgbClr val="141313"/>
                </a:solidFill>
              </a:rPr>
              <a:t>to</a:t>
            </a:r>
            <a:r>
              <a:rPr lang="de-DE" sz="900" b="0">
                <a:solidFill>
                  <a:srgbClr val="141313"/>
                </a:solidFill>
              </a:rPr>
              <a:t> </a:t>
            </a:r>
            <a:r>
              <a:rPr lang="de-DE" sz="900" b="0" err="1">
                <a:solidFill>
                  <a:srgbClr val="141313"/>
                </a:solidFill>
              </a:rPr>
              <a:t>pedestrian</a:t>
            </a:r>
            <a:r>
              <a:rPr lang="de-DE" sz="900" b="0">
                <a:solidFill>
                  <a:srgbClr val="141313"/>
                </a:solidFill>
              </a:rPr>
              <a:t> Szenario</a:t>
            </a:r>
            <a:endParaRPr lang="de-DE" sz="900" b="0">
              <a:solidFill>
                <a:schemeClr val="tx1"/>
              </a:solidFill>
            </a:endParaRPr>
          </a:p>
        </p:txBody>
      </p:sp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08.01.26</a:t>
            </a:fld>
            <a:endParaRPr lang="de-DE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Comma_ai/comments/12rgfr8/aeb_light_on_experimental_mo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2" descr="fittosize__640_300_618dc7fa7de29b0f764d9d461b4ab069_dsc05764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6362" b="6362"/>
          <a:stretch>
            <a:fillRect/>
          </a:stretch>
        </p:blipFill>
        <p:spPr>
          <a:xfrm>
            <a:off x="1206500" y="71438"/>
            <a:ext cx="10985500" cy="4494212"/>
          </a:xfrm>
        </p:spPr>
      </p:pic>
      <p:sp>
        <p:nvSpPr>
          <p:cNvPr id="5123" name="Titel 2"/>
          <p:cNvSpPr>
            <a:spLocks noGrp="1"/>
          </p:cNvSpPr>
          <p:nvPr>
            <p:ph type="title"/>
          </p:nvPr>
        </p:nvSpPr>
        <p:spPr>
          <a:xfrm>
            <a:off x="1206500" y="4719782"/>
            <a:ext cx="10799763" cy="569768"/>
          </a:xfrm>
        </p:spPr>
        <p:txBody>
          <a:bodyPr/>
          <a:lstStyle/>
          <a:p>
            <a:r>
              <a:rPr lang="de-DE" altLang="de-DE" dirty="0">
                <a:latin typeface="Arial" pitchFamily="34" charset="0"/>
              </a:rPr>
              <a:t>Entwicklung eines AEB und FCW-Programms</a:t>
            </a:r>
          </a:p>
        </p:txBody>
      </p:sp>
      <p:sp>
        <p:nvSpPr>
          <p:cNvPr id="5124" name="Inhaltsplatzhalter 3"/>
          <p:cNvSpPr>
            <a:spLocks noGrp="1"/>
          </p:cNvSpPr>
          <p:nvPr>
            <p:ph sz="quarter" idx="4294967295"/>
          </p:nvPr>
        </p:nvSpPr>
        <p:spPr>
          <a:xfrm>
            <a:off x="1204913" y="5273675"/>
            <a:ext cx="10799762" cy="468313"/>
          </a:xfrm>
        </p:spPr>
        <p:txBody>
          <a:bodyPr/>
          <a:lstStyle/>
          <a:p>
            <a:r>
              <a:rPr lang="de-DE" altLang="de-DE" sz="2000" dirty="0">
                <a:latin typeface="Arial" pitchFamily="34" charset="0"/>
              </a:rPr>
              <a:t>Am Szenario </a:t>
            </a:r>
            <a:r>
              <a:rPr lang="de-DE" altLang="de-DE" sz="2000" dirty="0" err="1">
                <a:latin typeface="Arial" pitchFamily="34" charset="0"/>
              </a:rPr>
              <a:t>car</a:t>
            </a:r>
            <a:r>
              <a:rPr lang="de-DE" altLang="de-DE" sz="2000" dirty="0">
                <a:latin typeface="Arial" pitchFamily="34" charset="0"/>
              </a:rPr>
              <a:t> </a:t>
            </a:r>
            <a:r>
              <a:rPr lang="de-DE" altLang="de-DE" sz="2000" dirty="0" err="1">
                <a:latin typeface="Arial" pitchFamily="34" charset="0"/>
              </a:rPr>
              <a:t>to</a:t>
            </a:r>
            <a:r>
              <a:rPr lang="de-DE" altLang="de-DE" sz="2000" dirty="0">
                <a:latin typeface="Arial" pitchFamily="34" charset="0"/>
              </a:rPr>
              <a:t> </a:t>
            </a:r>
            <a:r>
              <a:rPr lang="de-DE" altLang="de-DE" sz="2000" dirty="0" err="1">
                <a:latin typeface="Arial" pitchFamily="34" charset="0"/>
              </a:rPr>
              <a:t>pedestrian</a:t>
            </a:r>
            <a:endParaRPr lang="de-DE" altLang="de-DE" sz="2000" dirty="0">
              <a:latin typeface="Arial" pitchFamily="34" charset="0"/>
            </a:endParaRPr>
          </a:p>
        </p:txBody>
      </p:sp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08.01.26</a:t>
            </a:fld>
            <a:endParaRPr lang="de-DE" alt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>
                <a:latin typeface="Arial" pitchFamily="34" charset="0"/>
              </a:rPr>
              <a:t>Gliederung</a:t>
            </a:r>
          </a:p>
        </p:txBody>
      </p:sp>
      <p:sp>
        <p:nvSpPr>
          <p:cNvPr id="6147" name="Datumsplatzhalter 2"/>
          <p:cNvSpPr>
            <a:spLocks noGrp="1"/>
          </p:cNvSpPr>
          <p:nvPr>
            <p:ph type="dt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A6548F-6A77-48A3-B923-7A8D8CC2BD5E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08.01.26</a:t>
            </a:fld>
            <a:endParaRPr lang="de-DE" altLang="de-DE"/>
          </a:p>
        </p:txBody>
      </p:sp>
      <p:sp>
        <p:nvSpPr>
          <p:cNvPr id="6148" name="Foliennummernplatzhalter 3"/>
          <p:cNvSpPr>
            <a:spLocks noGrp="1"/>
          </p:cNvSpPr>
          <p:nvPr>
            <p:ph type="sldNum" sz="quarter" idx="1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774AB95E-8A86-426C-9DE7-327A22F025AC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DE" altLang="de-DE"/>
          </a:p>
        </p:txBody>
      </p:sp>
      <p:sp>
        <p:nvSpPr>
          <p:cNvPr id="6149" name="Inhaltsplatzhalter 11"/>
          <p:cNvSpPr>
            <a:spLocks noGrp="1"/>
          </p:cNvSpPr>
          <p:nvPr>
            <p:ph sz="quarter" idx="12"/>
          </p:nvPr>
        </p:nvSpPr>
        <p:spPr>
          <a:xfrm>
            <a:off x="1204913" y="1078030"/>
            <a:ext cx="10799762" cy="431958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altLang="de-DE" dirty="0"/>
              <a:t>Einführung </a:t>
            </a:r>
            <a:r>
              <a:rPr lang="de-DE" altLang="de-DE"/>
              <a:t>und Ziel des Projekts</a:t>
            </a:r>
          </a:p>
          <a:p>
            <a:r>
              <a:rPr lang="de-DE" altLang="de-DE" dirty="0"/>
              <a:t>	1.1 Was ist AEBS und FCW </a:t>
            </a:r>
          </a:p>
          <a:p>
            <a:r>
              <a:rPr lang="de-DE" altLang="de-DE" dirty="0"/>
              <a:t>	1.2 Car-</a:t>
            </a:r>
            <a:r>
              <a:rPr lang="de-DE" altLang="de-DE" dirty="0" err="1"/>
              <a:t>to</a:t>
            </a:r>
            <a:r>
              <a:rPr lang="de-DE" altLang="de-DE" dirty="0"/>
              <a:t>-</a:t>
            </a:r>
            <a:r>
              <a:rPr lang="de-DE" altLang="de-DE" dirty="0" err="1"/>
              <a:t>Pedestrian</a:t>
            </a:r>
            <a:r>
              <a:rPr lang="de-DE" altLang="de-DE" dirty="0"/>
              <a:t> nach ECE R152</a:t>
            </a:r>
          </a:p>
          <a:p>
            <a:r>
              <a:rPr lang="de-DE" altLang="de-DE" dirty="0"/>
              <a:t>2. </a:t>
            </a:r>
            <a:r>
              <a:rPr lang="de-DE" altLang="de-DE"/>
              <a:t>Systemanforderungen</a:t>
            </a:r>
            <a:endParaRPr lang="de-DE" altLang="de-DE" dirty="0"/>
          </a:p>
          <a:p>
            <a:r>
              <a:rPr lang="de-DE" altLang="de-DE" dirty="0"/>
              <a:t>3. </a:t>
            </a:r>
            <a:r>
              <a:rPr lang="de-DE" altLang="de-DE" dirty="0" err="1"/>
              <a:t>Requirements</a:t>
            </a:r>
            <a:r>
              <a:rPr lang="de-DE" altLang="de-DE" dirty="0"/>
              <a:t> AEB &amp; FCW</a:t>
            </a:r>
          </a:p>
          <a:p>
            <a:r>
              <a:rPr lang="de-DE" altLang="de-DE" dirty="0"/>
              <a:t>4. </a:t>
            </a:r>
            <a:r>
              <a:rPr lang="de-DE" altLang="de-DE"/>
              <a:t>Systemdesign und MATLAB Struktur</a:t>
            </a:r>
            <a:endParaRPr lang="de-DE" altLang="de-DE" dirty="0"/>
          </a:p>
          <a:p>
            <a:r>
              <a:rPr lang="de-DE" altLang="de-DE" dirty="0"/>
              <a:t>	4.1 Szenario und Überblick</a:t>
            </a:r>
          </a:p>
          <a:p>
            <a:r>
              <a:rPr lang="de-DE" altLang="de-DE" dirty="0"/>
              <a:t>	4.2 Aktivitätsdiagramm Grundlogik</a:t>
            </a:r>
          </a:p>
          <a:p>
            <a:r>
              <a:rPr lang="de-DE" altLang="de-DE" dirty="0"/>
              <a:t>	4.3 Aktivitätsdiagramm FCW</a:t>
            </a:r>
          </a:p>
          <a:p>
            <a:r>
              <a:rPr lang="de-DE" altLang="de-DE" dirty="0"/>
              <a:t>	4.4 Aktivitätsdiagramm AEB</a:t>
            </a:r>
          </a:p>
          <a:p>
            <a:r>
              <a:rPr lang="de-DE" altLang="de-DE"/>
              <a:t>5. Unit- und Integration-Tests</a:t>
            </a:r>
          </a:p>
          <a:p>
            <a:r>
              <a:rPr lang="de-DE" altLang="de-DE"/>
              <a:t>6. Quellen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idx="13"/>
          </p:nvPr>
        </p:nvSpPr>
        <p:spPr>
          <a:xfrm>
            <a:off x="1206500" y="150813"/>
            <a:ext cx="10785475" cy="214312"/>
          </a:xfrm>
        </p:spPr>
        <p:txBody>
          <a:bodyPr rtlCol="0"/>
          <a:lstStyle/>
          <a:p>
            <a:pPr fontAlgn="auto">
              <a:spcBef>
                <a:spcPts val="0"/>
              </a:spcBef>
              <a:defRPr/>
            </a:pPr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09D93-FEDA-D9F8-9164-71169351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1) </a:t>
            </a:r>
            <a:r>
              <a:rPr lang="de-DE"/>
              <a:t>Einführung und Ziel des Projekts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60E5CE-8F8B-B166-1C64-65F2716569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D2A2D0-2EDE-06E1-CD94-4FA1499F0E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20CE29-4506-ED26-1337-88D4B30A25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2EF085-EDD4-224C-4A71-50F68DAC9BE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04913" y="970756"/>
            <a:ext cx="893199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1.1 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Was ist AEBS/FCW? [1]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b="1"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Advanced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Emergency </a:t>
            </a: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Braking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System (AEBS)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Automatisches Sicherheitssystem zur 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Vermeidung oder Minderung</a:t>
            </a: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von Kollisionen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Erkennt drohende Kollisionen automatisch und greift ein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Funktioniert auch wenn der Fahrer nicht reagiert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Forward </a:t>
            </a: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Collision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Warning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(FCW)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Warnstufe 1: 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Akustische + optische Warnung</a:t>
            </a: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an den Fahrer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Gibt dem Fahrer Zeit zu reagieren (meist ~2 Sekunden voraus)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Falls Fahrer nicht reagiert → AEBS aktiviert sich automatisch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Notbremsung (AEB)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Warnstufe 2: 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Automatische Bremskraft ≥ 5 m/s²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Reduktion der Aufprallgeschwindigkeit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Kann vom Fahrer durch bewusste Aktion (z.B. Lenkbewegung) übersteuert werden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27" name="Picture 3" descr="r/Comma_ai - a black silhouette of cars and a star">
            <a:extLst>
              <a:ext uri="{FF2B5EF4-FFF2-40B4-BE49-F238E27FC236}">
                <a16:creationId xmlns:a16="http://schemas.microsoft.com/office/drawing/2014/main" id="{AA38531E-94A9-72DA-7105-73A21BE79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7" t="17222" r="15944" b="25373"/>
          <a:stretch>
            <a:fillRect/>
          </a:stretch>
        </p:blipFill>
        <p:spPr bwMode="auto">
          <a:xfrm>
            <a:off x="8424274" y="2667217"/>
            <a:ext cx="2199198" cy="176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B157C36-7EFC-2C34-274E-8273D6D6AE47}"/>
              </a:ext>
            </a:extLst>
          </p:cNvPr>
          <p:cNvSpPr txBox="1"/>
          <p:nvPr/>
        </p:nvSpPr>
        <p:spPr>
          <a:xfrm>
            <a:off x="8522365" y="4404688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/>
              <a:t>Abbildung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 1: FCW Warnsymbol</a:t>
            </a:r>
          </a:p>
        </p:txBody>
      </p:sp>
    </p:spTree>
    <p:extLst>
      <p:ext uri="{BB962C8B-B14F-4D97-AF65-F5344CB8AC3E}">
        <p14:creationId xmlns:p14="http://schemas.microsoft.com/office/powerpoint/2010/main" val="181848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44AD1-F75B-1C5D-FB21-B92DD6F0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1) </a:t>
            </a:r>
            <a:r>
              <a:rPr lang="de-DE"/>
              <a:t>Einführung und Ziel des Projekts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9A5BB8-3329-A606-0630-865C3666216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DC559E-820D-782A-F89F-8058435464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3AD4AA-4E43-5B60-9B1A-5D887F6E62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0D35014-5D56-8078-D6E6-527674A42D03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53399" y="970756"/>
            <a:ext cx="5575240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1.2 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Car-</a:t>
            </a: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</a:t>
            </a:r>
            <a:r>
              <a:rPr kumimoji="0" lang="de-DE" altLang="de-DE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Pedestrian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nach ECE R152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b="1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Szenario: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 nähert sich einem 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querenden Fußgänger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Fußgänger-Geschwindigkeit: 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 km/h</a:t>
            </a:r>
            <a:endParaRPr kumimoji="0" lang="de-DE" altLang="de-D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Kollisionszone:</a:t>
            </a: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Fußgänger muss sich im Bereich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</a:t>
            </a:r>
            <a:r>
              <a:rPr kumimoji="0" lang="de-DE" altLang="de-DE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&lt; 2 m</a:t>
            </a: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von der Fahrbahn befinden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Nur dann wird TTC berechnet; außerhalb: keine Aktivierung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99E0097-7808-6ECD-DD7E-42653A1F1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491" y="1576224"/>
            <a:ext cx="5090950" cy="380352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31BC4E0A-A334-7A59-2507-A927DC5F772E}"/>
              </a:ext>
            </a:extLst>
          </p:cNvPr>
          <p:cNvSpPr/>
          <p:nvPr/>
        </p:nvSpPr>
        <p:spPr>
          <a:xfrm>
            <a:off x="6630601" y="3403514"/>
            <a:ext cx="3092239" cy="167989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5DBAE6B-8956-A2CD-1B8B-4891B605C920}"/>
              </a:ext>
            </a:extLst>
          </p:cNvPr>
          <p:cNvSpPr txBox="1"/>
          <p:nvPr/>
        </p:nvSpPr>
        <p:spPr>
          <a:xfrm>
            <a:off x="9134753" y="5379751"/>
            <a:ext cx="30572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/>
              <a:t>Abbildung 2: Car-</a:t>
            </a:r>
            <a:r>
              <a:rPr lang="de-DE" sz="900" err="1"/>
              <a:t>to</a:t>
            </a:r>
            <a:r>
              <a:rPr lang="de-DE" sz="900"/>
              <a:t>-</a:t>
            </a:r>
            <a:r>
              <a:rPr lang="de-DE" sz="900" err="1"/>
              <a:t>Pedestrian</a:t>
            </a:r>
            <a:r>
              <a:rPr lang="de-DE" sz="900"/>
              <a:t> </a:t>
            </a:r>
            <a:r>
              <a:rPr lang="de-DE" sz="900" err="1"/>
              <a:t>Farside</a:t>
            </a:r>
            <a:r>
              <a:rPr lang="de-DE" sz="900"/>
              <a:t> NCAP Scenario </a:t>
            </a:r>
            <a:endParaRPr lang="de-DE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77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102A6-333D-5B67-3CF5-8BD139B0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2) </a:t>
            </a:r>
            <a:r>
              <a:rPr lang="de-DE"/>
              <a:t>Systemanforderungen nach ECE R152 [2]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D4DA47-EEFE-5C59-6FEA-BC4620C6569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DE8508-466B-6DE5-30AB-C566DFEA88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4150D2-9CE9-9E48-7EE9-4ACBEEFD2E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633B105-9D40-DF7C-FA93-4F19101997F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04913" y="1084625"/>
            <a:ext cx="10128798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Aktivierungsbereich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aktiv: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 km/h – 60 km/h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Funktionsfähig unter allen Beladungszuständen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b="1" dirty="0">
                <a:latin typeface="+mj-lt"/>
              </a:rPr>
              <a:t>2.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Kollisionswarnung (FCW)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Warnung bei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TTC ≤ 2,0 Sekunden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Spätestens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zu Beginn der Notbremsung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bereitgestellt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Mindestens 2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Warnmodi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akustisch + optisch (z.B. Blinklicht)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 Automatische Notbremsung (AEB)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Bremsanforderung: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≥ 5,0 m/s²</a:t>
            </a:r>
          </a:p>
          <a:p>
            <a:pPr marL="285750" indent="-285750" defTabSz="914400" eaLnBrk="0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DE" altLang="de-DE" dirty="0"/>
              <a:t>Mindestens </a:t>
            </a:r>
            <a:r>
              <a:rPr lang="de-DE" altLang="de-DE" b="1"/>
              <a:t>9</a:t>
            </a:r>
            <a:r>
              <a:rPr lang="de-DE" altLang="de-DE" b="1" dirty="0"/>
              <a:t> m/s² Bremskraft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Aktiviert bei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Kollisionsgefahr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(TTC ca. 1,0–1,6 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Fahrer kann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jederzeit durch bewusste Aktion übersteuern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(z.B. Lenken, Kick-Down)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altLang="de-D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Geschwindigkeitsreduzierung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Aufprallgeschwindigkeit muss 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≤ zulässiger Wert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sein (abhängig von Ausgangsgeschwindigkeit)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09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F3D51-CA77-78F3-FD7B-32CE3129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3) </a:t>
            </a:r>
            <a:r>
              <a:rPr lang="de-DE" dirty="0" err="1"/>
              <a:t>Requirements</a:t>
            </a:r>
            <a:r>
              <a:rPr lang="de-DE" dirty="0"/>
              <a:t> FCW &amp; AEB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4224EC-1313-9E6F-F0CB-B78BF23F33E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20F790-EA0A-D413-196B-2D685D87E5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550F29-F2AD-89D6-C106-3DF449E3F7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graphicFrame>
        <p:nvGraphicFramePr>
          <p:cNvPr id="16" name="Inhaltsplatzhalter 15">
            <a:extLst>
              <a:ext uri="{FF2B5EF4-FFF2-40B4-BE49-F238E27FC236}">
                <a16:creationId xmlns:a16="http://schemas.microsoft.com/office/drawing/2014/main" id="{28922B3E-CCD0-EAA8-DCCF-C51BD90C80C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85071751"/>
              </p:ext>
            </p:extLst>
          </p:nvPr>
        </p:nvGraphicFramePr>
        <p:xfrm>
          <a:off x="696118" y="1166623"/>
          <a:ext cx="10799763" cy="2425040"/>
        </p:xfrm>
        <a:graphic>
          <a:graphicData uri="http://schemas.openxmlformats.org/drawingml/2006/table">
            <a:tbl>
              <a:tblPr/>
              <a:tblGrid>
                <a:gridCol w="758111">
                  <a:extLst>
                    <a:ext uri="{9D8B030D-6E8A-4147-A177-3AD203B41FA5}">
                      <a16:colId xmlns:a16="http://schemas.microsoft.com/office/drawing/2014/main" val="1558522745"/>
                    </a:ext>
                  </a:extLst>
                </a:gridCol>
                <a:gridCol w="6441731">
                  <a:extLst>
                    <a:ext uri="{9D8B030D-6E8A-4147-A177-3AD203B41FA5}">
                      <a16:colId xmlns:a16="http://schemas.microsoft.com/office/drawing/2014/main" val="3982689183"/>
                    </a:ext>
                  </a:extLst>
                </a:gridCol>
                <a:gridCol w="3599921">
                  <a:extLst>
                    <a:ext uri="{9D8B030D-6E8A-4147-A177-3AD203B41FA5}">
                      <a16:colId xmlns:a16="http://schemas.microsoft.com/office/drawing/2014/main" val="3907349023"/>
                    </a:ext>
                  </a:extLst>
                </a:gridCol>
              </a:tblGrid>
              <a:tr h="1570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Req ID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dirty="0">
                          <a:effectLst/>
                        </a:rPr>
                        <a:t>Description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dirty="0" err="1">
                          <a:effectLst/>
                        </a:rPr>
                        <a:t>Logic</a:t>
                      </a:r>
                      <a:endParaRPr lang="de-DE" sz="1200" dirty="0">
                        <a:effectLst/>
                      </a:endParaRP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026991"/>
                  </a:ext>
                </a:extLst>
              </a:tr>
              <a:tr h="4621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1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Pedestrian Collision Warning Trigger</a:t>
                      </a:r>
                      <a:r>
                        <a:rPr lang="en-US" sz="1200" dirty="0">
                          <a:effectLst/>
                        </a:rPr>
                        <a:t>: The System shall issue a collision warning when a pedestrian is detected who is crossing the lane at a constant speed of 5 km/h and a risk of collision exists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IF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dy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&lt; 2.0m AND dx &gt; 0 AND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ttc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&lt;= 2.0s AND ~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warnung_alt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THEN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warnung_aktiv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= true</a:t>
                      </a:r>
                      <a:endParaRPr lang="en-US" sz="1200" dirty="0">
                        <a:effectLst/>
                      </a:endParaRP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225116"/>
                  </a:ext>
                </a:extLst>
              </a:tr>
              <a:tr h="3379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2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Warning Timing at AEB Activation</a:t>
                      </a:r>
                      <a:r>
                        <a:rPr lang="en-US" sz="1200" dirty="0">
                          <a:effectLst/>
                        </a:rPr>
                        <a:t>: The System shall provide the collision warning no later than at the start of the emergency braking intervention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dirty="0" err="1">
                          <a:effectLst/>
                          <a:latin typeface="Courier New" panose="02070309020205020404" pitchFamily="49" charset="0"/>
                        </a:rPr>
                        <a:t>ttc_warnung</a:t>
                      </a:r>
                      <a:r>
                        <a:rPr lang="de-DE" sz="1200" dirty="0">
                          <a:effectLst/>
                          <a:latin typeface="Courier New" panose="02070309020205020404" pitchFamily="49" charset="0"/>
                        </a:rPr>
                        <a:t>(2.0s) &gt; </a:t>
                      </a:r>
                      <a:r>
                        <a:rPr lang="de-DE" sz="1200" dirty="0" err="1">
                          <a:effectLst/>
                          <a:latin typeface="Courier New" panose="02070309020205020404" pitchFamily="49" charset="0"/>
                        </a:rPr>
                        <a:t>ttc_bremse</a:t>
                      </a:r>
                      <a:r>
                        <a:rPr lang="de-DE" sz="1200" dirty="0">
                          <a:effectLst/>
                          <a:latin typeface="Courier New" panose="02070309020205020404" pitchFamily="49" charset="0"/>
                        </a:rPr>
                        <a:t>(1.2s)</a:t>
                      </a:r>
                      <a:endParaRPr lang="de-DE" sz="1200" dirty="0">
                        <a:effectLst/>
                      </a:endParaRP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404136"/>
                  </a:ext>
                </a:extLst>
              </a:tr>
              <a:tr h="3734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3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Collision Warning Output</a:t>
                      </a:r>
                      <a:r>
                        <a:rPr lang="en-US" sz="1200" dirty="0">
                          <a:effectLst/>
                        </a:rPr>
                        <a:t>: The System shall provide the collision warning using at least two modalities: acoustic + optical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IF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warnung_aktiv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THEN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acoustic_output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fprintf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) AND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optical_output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fprintf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80681"/>
                  </a:ext>
                </a:extLst>
              </a:tr>
              <a:tr h="2758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dirty="0">
                          <a:effectLst/>
                        </a:rPr>
                        <a:t>4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Collision Warning Cancellation</a:t>
                      </a:r>
                      <a:r>
                        <a:rPr lang="en-US" sz="1200" dirty="0">
                          <a:effectLst/>
                        </a:rPr>
                        <a:t>: The System may cancel the collision warning when there is no longer a risk of collision</a:t>
                      </a: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IF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ttc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&gt;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ttc_warnung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+ 0.5s THEN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warnung_aktiv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= false</a:t>
                      </a:r>
                      <a:endParaRPr lang="en-US" sz="1200" dirty="0">
                        <a:effectLst/>
                      </a:endParaRPr>
                    </a:p>
                  </a:txBody>
                  <a:tcPr marL="41336" marR="41336" marT="41336" marB="4133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790578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7E7399E-6E49-4294-876B-03FC520AA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055297"/>
              </p:ext>
            </p:extLst>
          </p:nvPr>
        </p:nvGraphicFramePr>
        <p:xfrm>
          <a:off x="696117" y="3695334"/>
          <a:ext cx="10799763" cy="1929376"/>
        </p:xfrm>
        <a:graphic>
          <a:graphicData uri="http://schemas.openxmlformats.org/drawingml/2006/table">
            <a:tbl>
              <a:tblPr/>
              <a:tblGrid>
                <a:gridCol w="746789">
                  <a:extLst>
                    <a:ext uri="{9D8B030D-6E8A-4147-A177-3AD203B41FA5}">
                      <a16:colId xmlns:a16="http://schemas.microsoft.com/office/drawing/2014/main" val="3000711349"/>
                    </a:ext>
                  </a:extLst>
                </a:gridCol>
                <a:gridCol w="6453053">
                  <a:extLst>
                    <a:ext uri="{9D8B030D-6E8A-4147-A177-3AD203B41FA5}">
                      <a16:colId xmlns:a16="http://schemas.microsoft.com/office/drawing/2014/main" val="1582536210"/>
                    </a:ext>
                  </a:extLst>
                </a:gridCol>
                <a:gridCol w="3599921">
                  <a:extLst>
                    <a:ext uri="{9D8B030D-6E8A-4147-A177-3AD203B41FA5}">
                      <a16:colId xmlns:a16="http://schemas.microsoft.com/office/drawing/2014/main" val="2036180711"/>
                    </a:ext>
                  </a:extLst>
                </a:gridCol>
              </a:tblGrid>
              <a:tr h="4564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Req ID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Logic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90185"/>
                  </a:ext>
                </a:extLst>
              </a:tr>
              <a:tr h="8298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>
                          <a:effectLst/>
                        </a:rPr>
                        <a:t>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Emergency Braking Request</a:t>
                      </a:r>
                      <a:r>
                        <a:rPr lang="en-US" sz="1200" dirty="0">
                          <a:effectLst/>
                        </a:rPr>
                        <a:t>: The System shall send a braking request of at least 5.0 m/s² when imminent collision detected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urier New" panose="02070309020205020404" pitchFamily="49" charset="0"/>
                        </a:rPr>
                        <a:t>IF ttc &lt;= 1.2s AND ~bremse_alt AND ~override THEN bremskraft = 9.0 m/s²</a:t>
                      </a:r>
                      <a:endParaRPr lang="en-US" sz="12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31172"/>
                  </a:ext>
                </a:extLst>
              </a:tr>
              <a:tr h="643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1">
                          <a:effectLst/>
                        </a:rPr>
                        <a:t>2</a:t>
                      </a:r>
                      <a:endParaRPr lang="de-DE" sz="12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Emergency Braking Cancellation</a:t>
                      </a:r>
                      <a:r>
                        <a:rPr lang="en-US" sz="1200" dirty="0">
                          <a:effectLst/>
                        </a:rPr>
                        <a:t>: The System shall cancel braking when no collision risk OR </a:t>
                      </a:r>
                      <a:r>
                        <a:rPr lang="en-US" sz="1200" b="1" dirty="0">
                          <a:effectLst/>
                        </a:rPr>
                        <a:t>driver override detected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IF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ttc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&gt;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ttc_bremse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+ 0.5s OR override=true THEN </a:t>
                      </a:r>
                      <a:r>
                        <a:rPr lang="en-US" sz="1200" dirty="0" err="1">
                          <a:effectLst/>
                          <a:latin typeface="Courier New" panose="02070309020205020404" pitchFamily="49" charset="0"/>
                        </a:rPr>
                        <a:t>bremskraft</a:t>
                      </a:r>
                      <a:r>
                        <a:rPr lang="en-US" sz="1200" dirty="0">
                          <a:effectLst/>
                          <a:latin typeface="Courier New" panose="02070309020205020404" pitchFamily="49" charset="0"/>
                        </a:rPr>
                        <a:t> = 0</a:t>
                      </a:r>
                      <a:endParaRPr lang="en-US" sz="12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68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664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D6141-0410-AED2-31C3-B38DCC39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4) </a:t>
            </a:r>
            <a:r>
              <a:rPr lang="de-DE"/>
              <a:t>Systemdesign &amp; MATLAB Struktur</a:t>
            </a:r>
            <a:br>
              <a:rPr lang="de-DE"/>
            </a:br>
            <a:r>
              <a:rPr lang="de-DE" sz="2000" dirty="0"/>
              <a:t>4.1 </a:t>
            </a:r>
            <a:r>
              <a:rPr lang="de-DE" sz="2000"/>
              <a:t>Szenario und Überblick</a:t>
            </a:r>
            <a:endParaRPr lang="de-DE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29CF4962-9139-33AE-02BA-27070495CE4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21832642"/>
              </p:ext>
            </p:extLst>
          </p:nvPr>
        </p:nvGraphicFramePr>
        <p:xfrm>
          <a:off x="6669248" y="1576322"/>
          <a:ext cx="5150868" cy="1381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75434">
                  <a:extLst>
                    <a:ext uri="{9D8B030D-6E8A-4147-A177-3AD203B41FA5}">
                      <a16:colId xmlns:a16="http://schemas.microsoft.com/office/drawing/2014/main" val="347388252"/>
                    </a:ext>
                  </a:extLst>
                </a:gridCol>
                <a:gridCol w="2575434">
                  <a:extLst>
                    <a:ext uri="{9D8B030D-6E8A-4147-A177-3AD203B41FA5}">
                      <a16:colId xmlns:a16="http://schemas.microsoft.com/office/drawing/2014/main" val="228406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Fahrzeug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Fußgänger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66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Position: x=0 ; y=0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Position: x=35m ; </a:t>
                      </a:r>
                      <a:r>
                        <a:rPr lang="de-DE" err="1"/>
                        <a:t>y</a:t>
                      </a:r>
                      <a:r>
                        <a:rPr lang="de-DE"/>
                        <a:t>=-3m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3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err="1"/>
                        <a:t>v_ego</a:t>
                      </a:r>
                      <a:r>
                        <a:rPr lang="de-DE"/>
                        <a:t>: 50km/h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err="1"/>
                        <a:t>v_quer</a:t>
                      </a:r>
                      <a:r>
                        <a:rPr lang="de-DE"/>
                        <a:t>: 5 km/h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845377"/>
                  </a:ext>
                </a:extLst>
              </a:tr>
            </a:tbl>
          </a:graphicData>
        </a:graphic>
      </p:graphicFrame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6D184D-794B-FD98-F2C9-FE1A080B814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377F5B-1FED-B8E6-2401-69F59E26E9B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8F7DCB-2EC5-FF2A-B529-6D54DFD8F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A4AED26-1D5A-B6B9-3B78-7FDF93A82D40}"/>
              </a:ext>
            </a:extLst>
          </p:cNvPr>
          <p:cNvSpPr txBox="1"/>
          <p:nvPr/>
        </p:nvSpPr>
        <p:spPr>
          <a:xfrm>
            <a:off x="6669248" y="1098409"/>
            <a:ext cx="2293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Startbedingungen: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28AF44B-0598-66B4-E595-8F0017073D89}"/>
              </a:ext>
            </a:extLst>
          </p:cNvPr>
          <p:cNvSpPr txBox="1"/>
          <p:nvPr/>
        </p:nvSpPr>
        <p:spPr>
          <a:xfrm>
            <a:off x="1206500" y="1576224"/>
            <a:ext cx="107997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Simulation: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Dauer 15s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Zeitschritte 0,01s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Kollisionszone y &lt; 2m</a:t>
            </a:r>
          </a:p>
          <a:p>
            <a:endParaRPr lang="de-DE" dirty="0"/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Annahme: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Auto bleibt in der Spur (y=0)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Fußgänger bewegt sich nur Quer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Ideale </a:t>
            </a:r>
            <a:r>
              <a:rPr lang="de-DE" dirty="0"/>
              <a:t>Bedingungen – Trocken, keine Blendung, Keine Falschmessungen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/>
          </a:p>
          <a:p>
            <a:r>
              <a:rPr lang="de-DE" b="1" dirty="0"/>
              <a:t>Ablauf:</a:t>
            </a:r>
          </a:p>
          <a:p>
            <a:r>
              <a:rPr lang="de-DE" dirty="0"/>
              <a:t> Physik (Bewegung) </a:t>
            </a:r>
            <a:r>
              <a:rPr lang="de-DE" altLang="de-DE" dirty="0"/>
              <a:t>→ Sensorik (TTC-Berechnung) → Logik (Warnen oder Bremsen?) </a:t>
            </a:r>
          </a:p>
          <a:p>
            <a:r>
              <a:rPr lang="de-DE" altLang="de-DE" dirty="0"/>
              <a:t>→ Fahrzeug-Reaktion (Bremsen)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89329-EB67-D48D-97DF-AD22EF84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4) </a:t>
            </a:r>
            <a:r>
              <a:rPr lang="de-DE"/>
              <a:t>Systemdesign &amp; MATLAB Struktur</a:t>
            </a:r>
            <a:br>
              <a:rPr lang="de-DE"/>
            </a:br>
            <a:r>
              <a:rPr lang="de-DE" sz="2000" dirty="0"/>
              <a:t>4.2 </a:t>
            </a:r>
            <a:r>
              <a:rPr lang="de-DE" sz="2000"/>
              <a:t>Funktion / Ablauf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A63363-2335-89EC-04B9-03D95CFB72C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BE723C-0FD8-2660-EB26-C4AFD8E102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578C1A-8FAF-1601-395D-36E2EC1C9A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pic>
        <p:nvPicPr>
          <p:cNvPr id="8" name="Grafik 7" descr="Ein Bild, das Diagramm, Entwurf, technische Zeichnung, Zeichnung enthält.&#10;&#10;KI-generierte Inhalte können fehlerhaft sein.">
            <a:extLst>
              <a:ext uri="{FF2B5EF4-FFF2-40B4-BE49-F238E27FC236}">
                <a16:creationId xmlns:a16="http://schemas.microsoft.com/office/drawing/2014/main" id="{FEFC5413-38F4-847A-835F-2DB9EC0B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495" y="922680"/>
            <a:ext cx="3074289" cy="501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7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98D21-1218-F9E4-8F64-BB1E2A1D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4) </a:t>
            </a:r>
            <a:r>
              <a:rPr lang="de-DE"/>
              <a:t>Systemdesign &amp; MATLAB Struktur</a:t>
            </a:r>
            <a:br>
              <a:rPr lang="de-DE"/>
            </a:br>
            <a:r>
              <a:rPr lang="de-DE" sz="2000" dirty="0"/>
              <a:t>4.3</a:t>
            </a:r>
            <a:r>
              <a:rPr lang="de-DE" dirty="0"/>
              <a:t> </a:t>
            </a:r>
            <a:r>
              <a:rPr lang="de-DE" sz="2000"/>
              <a:t>Funktion / Ablauf FCW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337925-643A-E268-3714-4A11FAF361A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6F01D4-1D39-0106-60A9-A8A90D6ADD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237D8A-E22E-30DF-FF02-2B5685B711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pic>
        <p:nvPicPr>
          <p:cNvPr id="7" name="Grafik 6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8BF5F543-F76D-F6C7-AFFE-A11797AF1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29" y="926408"/>
            <a:ext cx="2620542" cy="5005184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771A56DA-AED9-894B-2CFD-59593B154970}"/>
              </a:ext>
            </a:extLst>
          </p:cNvPr>
          <p:cNvSpPr/>
          <p:nvPr/>
        </p:nvSpPr>
        <p:spPr>
          <a:xfrm>
            <a:off x="4785729" y="926408"/>
            <a:ext cx="910396" cy="348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144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DB67C-C2F1-6DEA-972B-A598988B4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88017-5FEC-EDFC-38CD-C75E4C2B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4) </a:t>
            </a:r>
            <a:r>
              <a:rPr lang="de-DE"/>
              <a:t>Systemdesign &amp; MATLAB Struktur</a:t>
            </a:r>
            <a:br>
              <a:rPr lang="de-DE"/>
            </a:br>
            <a:r>
              <a:rPr lang="de-DE" sz="2000" dirty="0"/>
              <a:t>4.4 </a:t>
            </a:r>
            <a:r>
              <a:rPr lang="de-DE" sz="2000"/>
              <a:t>Funktion / Ablauf AEB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59766A-B4D7-CA29-6317-4D16CD5C4D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5B9330-636D-19EF-8B21-E6CB7EE0DA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481B54-C49F-480E-799A-F6E39ED1D1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13" name="Grafik 12" descr="Ein Bild, das Text, Diagramm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E0284E55-16F0-D988-7CE7-F0A8DEF6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79053" y="939504"/>
            <a:ext cx="4613945" cy="497899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2D36580A-54BE-42F7-4439-9C776B2FE696}"/>
              </a:ext>
            </a:extLst>
          </p:cNvPr>
          <p:cNvSpPr/>
          <p:nvPr/>
        </p:nvSpPr>
        <p:spPr>
          <a:xfrm>
            <a:off x="4379053" y="939504"/>
            <a:ext cx="562063" cy="26851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95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FE316A-A0EC-61D1-E164-305FC6CC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5) </a:t>
            </a:r>
            <a:r>
              <a:rPr lang="de-DE" dirty="0"/>
              <a:t>Unit- und Integration-Tests Ergebnisse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ACB4A6-EEB5-2E3B-0BFB-5556FA2E0FA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E115DE-E3E0-C061-AE10-1D8A53BF5A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D7933-1A4B-BB8F-220E-35A8982F8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pic>
        <p:nvPicPr>
          <p:cNvPr id="20" name="Inhaltsplatzhalter 19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96B99278-0419-93F0-634B-7482891BC1E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 bwMode="auto">
          <a:xfrm>
            <a:off x="1206500" y="1207848"/>
            <a:ext cx="10381297" cy="3982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907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B2BDB-6FBE-DCAB-7E69-3ACC57CF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4BB7C-790C-D812-FCED-F411D9D7363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/>
              <a:t>Abbildung 1: </a:t>
            </a:r>
            <a:r>
              <a:rPr lang="de-DE">
                <a:hlinkClick r:id="rId2"/>
              </a:rPr>
              <a:t>https://www.reddit.com/r/Comma_ai/comments/12rgfr8/aeb_light_on_experimental_mode</a:t>
            </a:r>
            <a:endParaRPr lang="de-DE"/>
          </a:p>
          <a:p>
            <a:r>
              <a:rPr lang="de-DE"/>
              <a:t>Abbildung 2 : EURO NCAP Test Protocol AEB/LSS VRU Systems- Versions 4.5.1, Februar 2024</a:t>
            </a:r>
          </a:p>
          <a:p>
            <a:r>
              <a:rPr lang="de-DE"/>
              <a:t>[1]Handbuch Fahrerassistenzsysteme - Grundlagen, Komponenten und Systeme, 3. Auflage 2015</a:t>
            </a:r>
          </a:p>
          <a:p>
            <a:r>
              <a:rPr lang="de-DE"/>
              <a:t>[2] UN ECE Regulation 152, stand 15 Juni 2023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121C0-E8C6-9CF7-2A8C-EC41A364D9A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408A6A-E337-D70B-5CE2-7E8F86482A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08.01.26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704D42-C388-C862-3F92-3D604EA374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99284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894</Words>
  <Application>Microsoft Macintosh PowerPoint</Application>
  <PresentationFormat>Breitbild</PresentationFormat>
  <Paragraphs>144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Arial </vt:lpstr>
      <vt:lpstr>Calibri</vt:lpstr>
      <vt:lpstr>Courier New</vt:lpstr>
      <vt:lpstr>Symbol</vt:lpstr>
      <vt:lpstr>Wingdings</vt:lpstr>
      <vt:lpstr>Masterfolie_16_9neu</vt:lpstr>
      <vt:lpstr>Entwicklung eines AEB und FCW-Programms</vt:lpstr>
      <vt:lpstr>Gliederung</vt:lpstr>
      <vt:lpstr>1) Einführung und Ziel des Projekts</vt:lpstr>
      <vt:lpstr>1) Einführung und Ziel des Projekts</vt:lpstr>
      <vt:lpstr>2) Systemanforderungen nach ECE R152 [2]</vt:lpstr>
      <vt:lpstr>3) Requirements FCW &amp; AEB </vt:lpstr>
      <vt:lpstr>4) Systemdesign &amp; MATLAB Struktur 4.1 Szenario und Überblick</vt:lpstr>
      <vt:lpstr>4) Systemdesign &amp; MATLAB Struktur 4.2 Funktion / Ablauf</vt:lpstr>
      <vt:lpstr>4) Systemdesign &amp; MATLAB Struktur 4.3 Funktion / Ablauf FCW</vt:lpstr>
      <vt:lpstr>4) Systemdesign &amp; MATLAB Struktur 4.4 Funktion / Ablauf AEB</vt:lpstr>
      <vt:lpstr>5) Unit- und Integration-Tests Ergebnisse</vt:lpstr>
      <vt:lpstr>Quellen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1.0</dc:creator>
  <cp:lastModifiedBy>Moritz Humberg (mhumberg)</cp:lastModifiedBy>
  <cp:revision>1</cp:revision>
  <cp:lastPrinted>2016-02-26T07:58:29Z</cp:lastPrinted>
  <dcterms:created xsi:type="dcterms:W3CDTF">2019-05-29T10:04:55Z</dcterms:created>
  <dcterms:modified xsi:type="dcterms:W3CDTF">2026-01-08T21:43:26Z</dcterms:modified>
</cp:coreProperties>
</file>